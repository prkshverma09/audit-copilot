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YLOOKUP X ENCODE AI HACKATHON | PRODUCT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Problem: Manual Reconciliation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100+ quarterly hours lost manually checking spreadsheets against PDFs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486400" cy="132588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43F5E"/>
                </a:solidFill>
              </a:defRPr>
            </a:pPr>
            <a:r>
              <a:t>01 • NO PROVENANCE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</a:defRPr>
            </a:pPr>
            <a:r>
              <a:t>Disconnected Formulas</a:t>
            </a:r>
            <a:br/>
            <a:r>
              <a:t>Formulas like C4 + D5 = C6 have zero link to source PDFs.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5486400" cy="132588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410712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F59E0B"/>
                </a:solidFill>
              </a:defRPr>
            </a:pPr>
            <a:r>
              <a:t>02 • HIGH RISK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</a:defRPr>
            </a:pPr>
            <a:r>
              <a:t>Manual Data Entry</a:t>
            </a:r>
            <a:br/>
            <a:r>
              <a:t>Re-typing balances across funds causes delays and mistakes.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79"/>
            <a:ext cx="5486400" cy="132588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919471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38BDF8"/>
                </a:solidFill>
              </a:defRPr>
            </a:pPr>
            <a:r>
              <a:t>03 • HIDDEN ISSUES</a:t>
            </a:r>
          </a:p>
          <a:p>
            <a:pPr>
              <a:lnSpc>
                <a:spcPct val="115000"/>
              </a:lnSpc>
              <a:defRPr sz="1100">
                <a:solidFill>
                  <a:srgbClr val="94A3B8"/>
                </a:solidFill>
              </a:defRPr>
            </a:pPr>
            <a:r>
              <a:t>Buried Discrepancies</a:t>
            </a:r>
            <a:br/>
            <a:r>
              <a:t>Unallocated wires stay buried until year-end audits.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737360"/>
            <a:ext cx="4937760" cy="434340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2011680"/>
            <a:ext cx="42976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38BDF8"/>
                </a:solidFill>
              </a:defRPr>
            </a:pPr>
            <a:r>
              <a:t>ORIGIN: FUND MANAGER INTERVIEWS</a:t>
            </a:r>
          </a:p>
          <a:p>
            <a:pPr>
              <a:spcAft>
                <a:spcPts val="2800"/>
              </a:spcAft>
              <a:defRPr sz="1600" i="1">
                <a:solidFill>
                  <a:srgbClr val="FFFFFF"/>
                </a:solidFill>
              </a:defRPr>
            </a:pPr>
            <a:r>
              <a:t>“Auditors spend 70% of their time manually cross-checking spreadsheets against PDFs.”</a:t>
            </a:r>
          </a:p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</a:defRPr>
            </a:pPr>
            <a:r>
              <a:t>• 70% — MANUAL WORK</a:t>
            </a:r>
          </a:p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</a:defRPr>
            </a:pPr>
            <a:r>
              <a:t>• 2-4 WKS — AUDIT DELAY</a:t>
            </a:r>
          </a:p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</a:defRPr>
            </a:pPr>
            <a:r>
              <a:t>• 100% — PROOF NEEDED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GEMINI 2.5 MULTIMODAL AI | PRODUCT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Solution: X-Ray Audit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Instant lineage, verified math, and click-to-source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9260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38BDF8"/>
                </a:solidFill>
              </a:defRPr>
            </a:pPr>
            <a:r>
              <a:t>01 • Multimodal AI</a:t>
            </a:r>
            <a:br/>
            <a:r>
              <a:t>Gemini 2.5 Extraction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Reads statements into structured data with exact quote citations.</a:t>
            </a:r>
            <a:br/>
            <a:br/>
            <a:r>
              <a:t>• Verbatim quote citations</a:t>
            </a:r>
            <a:br/>
            <a:r>
              <a:t>• Multi-fund classification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9260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02 • Math Engine</a:t>
            </a:r>
            <a:br/>
            <a:r>
              <a:t>Deterministic Verification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Python AST recalculates all formulas with zero hallucinations.</a:t>
            </a:r>
            <a:br/>
            <a:br/>
            <a:r>
              <a:t>• Zero math guessing</a:t>
            </a:r>
            <a:br/>
            <a:r>
              <a:t>• Real-time reconciliation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03120"/>
            <a:ext cx="2926080" cy="37490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59E0B"/>
                </a:solidFill>
              </a:defRPr>
            </a:pPr>
            <a:r>
              <a:t>03 • Source Evidence</a:t>
            </a:r>
            <a:br/>
            <a:r>
              <a:t>Click-to-Source PDF BBox</a:t>
            </a:r>
          </a:p>
          <a:p>
            <a:pPr>
              <a:spcAft>
                <a:spcPts val="1400"/>
              </a:spcAft>
              <a:defRPr sz="1100">
                <a:solidFill>
                  <a:srgbClr val="94A3B8"/>
                </a:solidFill>
              </a:defRPr>
            </a:pPr>
            <a:r>
              <a:t>PyMuPDF highlights exact character coordinates on source PDFs.</a:t>
            </a:r>
            <a:br/>
            <a:br/>
            <a:r>
              <a:t>• Sub-millimeter bounding boxes</a:t>
            </a:r>
            <a:br/>
            <a:r>
              <a:t>• Instant cell-to-PDF jump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SYSTEM PIPELINE | ZERO-HALLUCINATION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High-Level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4-stage pipeline connecting PDF statements to verified spreadsheets</a:t>
            </a:r>
          </a:p>
        </p:txBody>
      </p:sp>
      <p:pic>
        <p:nvPicPr>
          <p:cNvPr id="6" name="Picture 5" descr="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132320" cy="398083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691640"/>
            <a:ext cx="3291840" cy="443484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66760" y="1874519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38BDF8"/>
                </a:solidFill>
              </a:defRPr>
            </a:pPr>
            <a:r>
              <a:t>CORE PIPELINE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Gemini 2.5 Flash &amp; Pro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Fast PDF classification &amp; deep financial extraction.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PDF Bounding Boxes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Exact visual coordinates on source documents.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Deterministic Math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Python AST evaluates formulas with zero error.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• Exception Quarantine</a:t>
            </a:r>
          </a:p>
          <a:p>
            <a:pPr>
              <a:spcAft>
                <a:spcPts val="800"/>
              </a:spcAft>
              <a:defRPr sz="1000">
                <a:solidFill>
                  <a:srgbClr val="94A3B8"/>
                </a:solidFill>
              </a:defRPr>
            </a:pPr>
            <a:r>
              <a:t>   Auto-flags unallocated items for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TECH STACK | READY TO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Technology 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Modern, decoupled architecture built for production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9659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75488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GOOGLE GEMINI 2.5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Gemini Flash &amp; Pro for fast classification and structured extraction.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19659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475488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FASTAPI &amp; PYTHON 3.11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Async API and formula AST solver with sub-50ms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212080" cy="19659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39"/>
            <a:ext cx="475488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NEXT.JS 14 &amp; FORTUNESHEET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Canvas spreadsheet synced with interactive PDF.js viewer.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39"/>
            <a:ext cx="5212080" cy="1965960"/>
          </a:xfrm>
          <a:prstGeom prst="roundRect">
            <a:avLst/>
          </a:prstGeom>
          <a:solidFill>
            <a:srgbClr val="11182B"/>
          </a:solidFill>
          <a:ln w="12700">
            <a:solidFill>
              <a:srgbClr val="263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206239"/>
            <a:ext cx="4754880" cy="1508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DOCKER &amp; COMPOSE</a:t>
            </a:r>
          </a:p>
          <a:p>
            <a:pPr>
              <a:spcAft>
                <a:spcPts val="800"/>
              </a:spcAft>
              <a:defRPr sz="1100">
                <a:solidFill>
                  <a:srgbClr val="94A3B8"/>
                </a:solidFill>
              </a:defRPr>
            </a:pPr>
            <a:r>
              <a:t>Single-command launch via ./run_docker.sh.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