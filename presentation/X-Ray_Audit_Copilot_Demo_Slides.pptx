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solidFill>
              <a:srgbClr val="0A0F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YLOOKUP X ENCODE AI HACKATHON | PRODUCT TRACK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The Problem: Manual Reconciliation in Private Capital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100+ quarterly auditor hours lost cross-referencing spreadsheets against PDF statements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486400" cy="132588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01952"/>
            <a:ext cx="50292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F43F5E"/>
                </a:solidFill>
              </a:defRPr>
            </a:pPr>
            <a:r>
              <a:t>01 • NO DOCUMENT PROVENANCE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Formulas like C4 + D5 = C6 reference ledger cells with zero verifiable links to source bank PDFs.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246120"/>
            <a:ext cx="5486400" cy="132588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410712"/>
            <a:ext cx="50292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F59E0B"/>
                </a:solidFill>
              </a:defRPr>
            </a:pPr>
            <a:r>
              <a:t>02 • HIGH-RISK MANUAL ENTRY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Auditors manually re-type balances across multiple funds. A single typo triggers days of reconciliation delays.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754879"/>
            <a:ext cx="5486400" cy="132588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919471"/>
            <a:ext cx="50292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38BDF8"/>
                </a:solidFill>
              </a:defRPr>
            </a:pPr>
            <a:r>
              <a:t>03 • HIDDEN EXCEPTIONS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Unallocated deposits and timing discrepancies stay buried in ledger rows until year-end fire drills.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1737360"/>
            <a:ext cx="4937760" cy="434340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12280" y="2011680"/>
            <a:ext cx="4297680" cy="3840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1100" b="1">
                <a:solidFill>
                  <a:srgbClr val="38BDF8"/>
                </a:solidFill>
              </a:defRPr>
            </a:pPr>
            <a:r>
              <a:t>ORIGIN: FUND MANAGER INTERVIEWS</a:t>
            </a:r>
          </a:p>
          <a:p>
            <a:pPr>
              <a:spcAft>
                <a:spcPts val="2400"/>
              </a:spcAft>
              <a:defRPr sz="1500" i="1">
                <a:solidFill>
                  <a:srgbClr val="FFFFFF"/>
                </a:solidFill>
              </a:defRPr>
            </a:pPr>
            <a:r>
              <a:t>“Auditors spend up to 70% of quarterly reporting manually matching Excel numbers against PDF bank statements. It is slow, disconnected, and error-prone.”</a:t>
            </a:r>
          </a:p>
          <a:p>
            <a:pPr>
              <a:spcAft>
                <a:spcPts val="600"/>
              </a:spcAft>
              <a:defRPr sz="1200" b="1">
                <a:solidFill>
                  <a:srgbClr val="10B981"/>
                </a:solidFill>
              </a:defRPr>
            </a:pPr>
            <a:r>
              <a:t>• 70% — MANUAL TIME</a:t>
            </a:r>
          </a:p>
          <a:p>
            <a:pPr>
              <a:spcAft>
                <a:spcPts val="600"/>
              </a:spcAft>
              <a:defRPr sz="1200" b="1">
                <a:solidFill>
                  <a:srgbClr val="10B981"/>
                </a:solidFill>
              </a:defRPr>
            </a:pPr>
            <a:r>
              <a:t>• 2-4 WKS — NAV DELAY</a:t>
            </a:r>
          </a:p>
          <a:p>
            <a:pPr>
              <a:spcAft>
                <a:spcPts val="600"/>
              </a:spcAft>
              <a:defRPr sz="1200" b="1">
                <a:solidFill>
                  <a:srgbClr val="10B981"/>
                </a:solidFill>
              </a:defRPr>
            </a:pPr>
            <a:r>
              <a:t>• 100% — PROOF REQUIRED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solidFill>
              <a:srgbClr val="0A0F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AUTONOMOUS LINEAGE | PRODUCT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The Solution: X-Ray Audit Copilot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Dual-engine financial lineage &amp; sub-millimeter character-grounded statement matching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029200" cy="132588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01952"/>
            <a:ext cx="45720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38BDF8"/>
                </a:solidFill>
              </a:defRPr>
            </a:pPr>
            <a:r>
              <a:t>Engine 1 • Formula Dependency Solver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Recursively traces arithmetic formulas (C4 + D5 = C6) and maps parent-child cell lineage automatically.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246120"/>
            <a:ext cx="5029200" cy="132588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410712"/>
            <a:ext cx="45720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10B981"/>
                </a:solidFill>
              </a:defRPr>
            </a:pPr>
            <a:r>
              <a:t>Engine 2 • Automated Math Verification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Recalculates vertical ledger sums and cross-fund balances with zero delta tolerance.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754879"/>
            <a:ext cx="5029200" cy="132588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919471"/>
            <a:ext cx="45720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F59E0B"/>
                </a:solidFill>
              </a:defRPr>
            </a:pPr>
            <a:r>
              <a:t>Engine 3 • Grounded Statement Matching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Extracts exact bounding boxes (bbox) from PDF statements for 100% verified citations.</a:t>
            </a:r>
          </a:p>
        </p:txBody>
      </p:sp>
      <p:pic>
        <p:nvPicPr>
          <p:cNvPr id="12" name="Picture 11" descr="conce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737360"/>
            <a:ext cx="5394960" cy="30111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solidFill>
              <a:srgbClr val="0A0F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SYSTEM DESIGN | ZERO-HALLUCINATION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High-Level 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Deterministic 4-stage pipeline connecting multi-fund sheets to source bank statements</a:t>
            </a:r>
          </a:p>
        </p:txBody>
      </p:sp>
      <p:pic>
        <p:nvPicPr>
          <p:cNvPr id="6" name="Picture 5" descr="architectu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91640"/>
            <a:ext cx="7132320" cy="398083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138160" y="1691640"/>
            <a:ext cx="3291840" cy="443484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66760" y="1874519"/>
            <a:ext cx="283464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38BDF8"/>
                </a:solidFill>
              </a:defRPr>
            </a:pPr>
            <a:r>
              <a:t>CORE GUARANTEES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• Deterministic AST</a:t>
            </a:r>
          </a:p>
          <a:p>
            <a:pPr>
              <a:spcAft>
                <a:spcPts val="800"/>
              </a:spcAft>
              <a:defRPr sz="1000">
                <a:solidFill>
                  <a:srgbClr val="94A3B8"/>
                </a:solidFill>
              </a:defRPr>
            </a:pPr>
            <a:r>
              <a:t>   Formulas parsed via Python AST; zero LLM math guessing.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• Sub-Millimeter BBox</a:t>
            </a:r>
          </a:p>
          <a:p>
            <a:pPr>
              <a:spcAft>
                <a:spcPts val="800"/>
              </a:spcAft>
              <a:defRPr sz="1000">
                <a:solidFill>
                  <a:srgbClr val="94A3B8"/>
                </a:solidFill>
              </a:defRPr>
            </a:pPr>
            <a:r>
              <a:t>   Direct character coordinate extraction via PyMuPDF and pdfplumber.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• Sub-50ms Engine</a:t>
            </a:r>
          </a:p>
          <a:p>
            <a:pPr>
              <a:spcAft>
                <a:spcPts val="800"/>
              </a:spcAft>
              <a:defRPr sz="1000">
                <a:solidFill>
                  <a:srgbClr val="94A3B8"/>
                </a:solidFill>
              </a:defRPr>
            </a:pPr>
            <a:r>
              <a:t>   Instant cross-fund balance matching &amp; delta computation.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• Suspense Alerting</a:t>
            </a:r>
          </a:p>
          <a:p>
            <a:pPr>
              <a:spcAft>
                <a:spcPts val="800"/>
              </a:spcAft>
              <a:defRPr sz="1000">
                <a:solidFill>
                  <a:srgbClr val="94A3B8"/>
                </a:solidFill>
              </a:defRPr>
            </a:pPr>
            <a:r>
              <a:t>   Detects unallocated deposits (e.g. €45,200) with review badges.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solidFill>
              <a:srgbClr val="0A0F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ENGINEERING &amp; DELIVERY | PRODUCTION READY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Technology Stack &amp; Turnkey Delivery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Modern, decoupled architecture with single-command Docker deployment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212080" cy="196596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65960"/>
            <a:ext cx="4754880" cy="1508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38BDF8"/>
                </a:solidFill>
              </a:defRPr>
            </a:pPr>
            <a:r>
              <a:t>FASTAPI &amp; PYTHON 3.11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</a:defRPr>
            </a:pPr>
            <a:r>
              <a:t>Asynchronous REST API, typed models, formula AST dependency solver, and sub-50ms response latency.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737360"/>
            <a:ext cx="5212080" cy="196596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965960"/>
            <a:ext cx="4754880" cy="1508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10B981"/>
                </a:solidFill>
              </a:defRPr>
            </a:pPr>
            <a:r>
              <a:t>PYMUPDF &amp; PDFPLUMBER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</a:defRPr>
            </a:pPr>
            <a:r>
              <a:t>Sub-millimeter character coordinate extraction, bounding box geometry, and zero hallucinations.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77639"/>
            <a:ext cx="5212080" cy="196596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206239"/>
            <a:ext cx="4754880" cy="1508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38BDF8"/>
                </a:solidFill>
              </a:defRPr>
            </a:pPr>
            <a:r>
              <a:t>NEXT.JS 14 &amp; FORTUNESHEET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</a:defRPr>
            </a:pPr>
            <a:r>
              <a:t>React 18 App Router, Tailwind CSS, virtualized spreadsheet canvas, and synchronized PDF.js split-viewer.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977639"/>
            <a:ext cx="5212080" cy="1965960"/>
          </a:xfrm>
          <a:prstGeom prst="roundRect">
            <a:avLst/>
          </a:prstGeom>
          <a:solidFill>
            <a:srgbClr val="11182B"/>
          </a:solidFill>
          <a:ln w="12700">
            <a:solidFill>
              <a:srgbClr val="263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4206239"/>
            <a:ext cx="4754880" cy="1508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F59E0B"/>
                </a:solidFill>
              </a:defRPr>
            </a:pPr>
            <a:r>
              <a:t>TURNKEY DOCKER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</a:defRPr>
            </a:pPr>
            <a:r>
              <a:t>Single-command containerization (./run_docker.sh) running frontend, backend, and healthchecks for instant judge evaluation.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